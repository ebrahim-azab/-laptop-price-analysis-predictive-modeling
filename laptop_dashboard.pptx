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4E9A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9A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9A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A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C6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C6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C6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DC6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DC6A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DC6A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DC6A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Apple</c:v>
                  </c:pt>
                  <c:pt idx="1">
                    <c:v>Razer</c:v>
                  </c:pt>
                  <c:pt idx="2">
                    <c:v>MSI</c:v>
                  </c:pt>
                  <c:pt idx="3">
                    <c:v>Lenovo</c:v>
                  </c:pt>
                  <c:pt idx="4">
                    <c:v>M-Soft</c:v>
                  </c:pt>
                  <c:pt idx="5">
                    <c:v>Dell</c:v>
                  </c:pt>
                  <c:pt idx="6">
                    <c:v>Samsung</c:v>
                  </c:pt>
                  <c:pt idx="7">
                    <c:v>Asus</c:v>
                  </c:pt>
                  <c:pt idx="8">
                    <c:v>HP</c:v>
                  </c:pt>
                  <c:pt idx="9">
                    <c:v>Acer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2915</c:v>
                </c:pt>
                <c:pt idx="1">
                  <c:v>2695</c:v>
                </c:pt>
                <c:pt idx="2">
                  <c:v>2518</c:v>
                </c:pt>
                <c:pt idx="3">
                  <c:v>1978</c:v>
                </c:pt>
                <c:pt idx="4">
                  <c:v>1975</c:v>
                </c:pt>
                <c:pt idx="5">
                  <c:v>1972</c:v>
                </c:pt>
                <c:pt idx="6">
                  <c:v>1959</c:v>
                </c:pt>
                <c:pt idx="7">
                  <c:v>1927</c:v>
                </c:pt>
                <c:pt idx="8">
                  <c:v>1939</c:v>
                </c:pt>
                <c:pt idx="9">
                  <c:v>1914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7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7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29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2A4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4A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E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575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9AF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4BF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4GB</c:v>
                  </c:pt>
                  <c:pt idx="1">
                    <c:v>8GB</c:v>
                  </c:pt>
                  <c:pt idx="2">
                    <c:v>16GB</c:v>
                  </c:pt>
                  <c:pt idx="3">
                    <c:v>32GB</c:v>
                  </c:pt>
                  <c:pt idx="4">
                    <c:v>64GB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1388</c:v>
                </c:pt>
                <c:pt idx="1">
                  <c:v>1552</c:v>
                </c:pt>
                <c:pt idx="2">
                  <c:v>1855</c:v>
                </c:pt>
                <c:pt idx="3">
                  <c:v>2487</c:v>
                </c:pt>
                <c:pt idx="4">
                  <c:v>3626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7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7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29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9AF1"/>
              </a:solidFill>
              <a:effectLst/>
            </c:spPr>
          </c:dPt>
          <c:dPt>
            <c:idx val="1"/>
            <c:bubble3D val="0"/>
            <c:spPr>
              <a:solidFill>
                <a:srgbClr val="2DC6A0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E05C7B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bubble3D val="0"/>
            <c:spPr>
              <a:solidFill>
                <a:srgbClr val="3BC9DB"/>
              </a:solidFill>
              <a:effectLst/>
            </c:spPr>
          </c:dPt>
          <c:dPt>
            <c:idx val="6"/>
            <c:bubble3D val="0"/>
            <c:spPr>
              <a:solidFill>
                <a:srgbClr val="8A97B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RTX 2060</c:v>
                </c:pt>
                <c:pt idx="1">
                  <c:v>GTX 1650</c:v>
                </c:pt>
                <c:pt idx="2">
                  <c:v>RTX 3060</c:v>
                </c:pt>
                <c:pt idx="3">
                  <c:v>RX 6600</c:v>
                </c:pt>
                <c:pt idx="4">
                  <c:v>RX 6800</c:v>
                </c:pt>
                <c:pt idx="5">
                  <c:v>RTX 3080</c:v>
                </c:pt>
                <c:pt idx="6">
                  <c:v>Integrated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1746</c:v>
                </c:pt>
                <c:pt idx="1">
                  <c:v>1699</c:v>
                </c:pt>
                <c:pt idx="2">
                  <c:v>1680</c:v>
                </c:pt>
                <c:pt idx="3">
                  <c:v>1676</c:v>
                </c:pt>
                <c:pt idx="4">
                  <c:v>1669</c:v>
                </c:pt>
                <c:pt idx="5">
                  <c:v>1648</c:v>
                </c:pt>
                <c:pt idx="6">
                  <c:v>1653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8A97B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F29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Laptops</c:v>
                </c:pt>
              </c:strCache>
            </c:strRef>
          </c:tx>
          <c:spPr>
            <a:solidFill>
              <a:srgbClr val="2DC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&lt;$500</c:v>
                  </c:pt>
                  <c:pt idx="1">
                    <c:v>$500–1k</c:v>
                  </c:pt>
                  <c:pt idx="2">
                    <c:v>$1k–1.5k</c:v>
                  </c:pt>
                  <c:pt idx="3">
                    <c:v>$1.5k–2k</c:v>
                  </c:pt>
                  <c:pt idx="4">
                    <c:v>$2k–2.5k</c:v>
                  </c:pt>
                  <c:pt idx="5">
                    <c:v>$2.5k–3k</c:v>
                  </c:pt>
                  <c:pt idx="6">
                    <c:v>$3k–4k</c:v>
                  </c:pt>
                  <c:pt idx="7">
                    <c:v>$4k–5k</c:v>
                  </c:pt>
                  <c:pt idx="8">
                    <c:v>$5k+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</c:v>
                </c:pt>
                <c:pt idx="1">
                  <c:v>1479</c:v>
                </c:pt>
                <c:pt idx="2">
                  <c:v>2663</c:v>
                </c:pt>
                <c:pt idx="3">
                  <c:v>2384</c:v>
                </c:pt>
                <c:pt idx="4">
                  <c:v>1701</c:v>
                </c:pt>
                <c:pt idx="5">
                  <c:v>1182</c:v>
                </c:pt>
                <c:pt idx="6">
                  <c:v>1221</c:v>
                </c:pt>
                <c:pt idx="7">
                  <c:v>580</c:v>
                </c:pt>
                <c:pt idx="8">
                  <c:v>505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A97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7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294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F5A623"/>
            </a:solidFill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3085</c:v>
                </c:pt>
                <c:pt idx="1">
                  <c:v>3067</c:v>
                </c:pt>
                <c:pt idx="2">
                  <c:v>2301</c:v>
                </c:pt>
                <c:pt idx="3">
                  <c:v>2277</c:v>
                </c:pt>
                <c:pt idx="4">
                  <c:v>1862</c:v>
                </c:pt>
                <c:pt idx="5">
                  <c:v>1830</c:v>
                </c:pt>
                <c:pt idx="6">
                  <c:v>1556</c:v>
                </c:pt>
                <c:pt idx="7">
                  <c:v>1535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7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7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29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chart" Target="/ppt/charts/chart1.xml"/><Relationship Id="rId12" Type="http://schemas.openxmlformats.org/officeDocument/2006/relationships/chart" Target="/ppt/charts/chart2.xml"/><Relationship Id="rId13" Type="http://schemas.openxmlformats.org/officeDocument/2006/relationships/chart" Target="/ppt/charts/chart3.xml"/><Relationship Id="rId14" Type="http://schemas.openxmlformats.org/officeDocument/2006/relationships/chart" Target="/ppt/charts/chart4.xml"/><Relationship Id="rId15" Type="http://schemas.openxmlformats.org/officeDocument/2006/relationships/chart" Target="/ppt/charts/chart5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0" cy="6400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822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LAPTOP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MARKET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1691640"/>
            <a:ext cx="1371600" cy="475488"/>
          </a:xfrm>
          <a:prstGeom prst="rect">
            <a:avLst/>
          </a:prstGeom>
          <a:solidFill>
            <a:srgbClr val="4E9AF1">
              <a:alpha val="20000"/>
            </a:srgbClr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1691640"/>
            <a:ext cx="45720" cy="47548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7830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17922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44144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2450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</a:rPr>
              <a:t>Brands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09981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292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</a:rPr>
              <a:t>Specs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3758184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920" y="3767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</a:rPr>
              <a:t>Pricing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1371600" y="0"/>
            <a:ext cx="10789920" cy="621792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508760" y="10972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Laptop Market Intelligence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6217920" y="1280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0"/>
                </a:solidFill>
              </a:rPr>
              <a:t>FY 2024  |  11,769 Listings  |  Last updated: Apr 10, 2026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1371600" y="621792"/>
            <a:ext cx="10789920" cy="27432"/>
          </a:xfrm>
          <a:prstGeom prst="rect">
            <a:avLst/>
          </a:prstGeom>
          <a:solidFill>
            <a:srgbClr val="2E3D5B"/>
          </a:solidFill>
          <a:ln w="12700">
            <a:solidFill>
              <a:srgbClr val="2E3D5B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508760" y="749808"/>
            <a:ext cx="1920240" cy="1005840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1508760" y="749808"/>
            <a:ext cx="1920240" cy="4572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3512" y="91440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645920" y="8595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B0"/>
                </a:solidFill>
              </a:rPr>
              <a:t>Total Listings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1645920" y="1069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11,769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1645920" y="14996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9AF1"/>
                </a:solidFill>
              </a:rPr>
              <a:t>10 brands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3538728" y="749808"/>
            <a:ext cx="1920240" cy="1005840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538728" y="749808"/>
            <a:ext cx="1920240" cy="45720"/>
          </a:xfrm>
          <a:prstGeom prst="rect">
            <a:avLst/>
          </a:prstGeom>
          <a:solidFill>
            <a:srgbClr val="2DC6A0"/>
          </a:solidFill>
          <a:ln w="12700">
            <a:solidFill>
              <a:srgbClr val="2DC6A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914400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675888" y="8595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B0"/>
                </a:solidFill>
              </a:rPr>
              <a:t>Average Price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3675888" y="1069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$2,184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3675888" y="14996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C6A0"/>
                </a:solidFill>
              </a:rPr>
              <a:t>Median $1,841</a:t>
            </a:r>
            <a:endParaRPr lang="en-US" sz="750" dirty="0"/>
          </a:p>
        </p:txBody>
      </p:sp>
      <p:sp>
        <p:nvSpPr>
          <p:cNvPr id="32" name="Shape 23"/>
          <p:cNvSpPr/>
          <p:nvPr/>
        </p:nvSpPr>
        <p:spPr>
          <a:xfrm>
            <a:off x="5568696" y="749808"/>
            <a:ext cx="1920240" cy="1005840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568696" y="749808"/>
            <a:ext cx="1920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914400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705856" y="8595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B0"/>
                </a:solidFill>
              </a:rPr>
              <a:t>Price Range</a:t>
            </a:r>
            <a:endParaRPr lang="en-US" sz="800" dirty="0"/>
          </a:p>
        </p:txBody>
      </p:sp>
      <p:sp>
        <p:nvSpPr>
          <p:cNvPr id="36" name="Text 26"/>
          <p:cNvSpPr/>
          <p:nvPr/>
        </p:nvSpPr>
        <p:spPr>
          <a:xfrm>
            <a:off x="5705856" y="1069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$280 – $10.8K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5705856" y="14996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A623"/>
                </a:solidFill>
              </a:rPr>
              <a:t>Wide spread</a:t>
            </a:r>
            <a:endParaRPr lang="en-US" sz="750" dirty="0"/>
          </a:p>
        </p:txBody>
      </p:sp>
      <p:sp>
        <p:nvSpPr>
          <p:cNvPr id="38" name="Shape 28"/>
          <p:cNvSpPr/>
          <p:nvPr/>
        </p:nvSpPr>
        <p:spPr>
          <a:xfrm>
            <a:off x="7598664" y="749808"/>
            <a:ext cx="1920240" cy="1005840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7598664" y="749808"/>
            <a:ext cx="1920240" cy="45720"/>
          </a:xfrm>
          <a:prstGeom prst="rect">
            <a:avLst/>
          </a:prstGeom>
          <a:solidFill>
            <a:srgbClr val="E05C7B"/>
          </a:solidFill>
          <a:ln w="12700">
            <a:solidFill>
              <a:srgbClr val="E05C7B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416" y="914400"/>
            <a:ext cx="292608" cy="29260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735824" y="8595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B0"/>
                </a:solidFill>
              </a:rPr>
              <a:t>RAM Correlation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7735824" y="1069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0.62</a:t>
            </a:r>
            <a:endParaRPr lang="en-US" sz="1400" dirty="0"/>
          </a:p>
        </p:txBody>
      </p:sp>
      <p:sp>
        <p:nvSpPr>
          <p:cNvPr id="43" name="Text 32"/>
          <p:cNvSpPr/>
          <p:nvPr/>
        </p:nvSpPr>
        <p:spPr>
          <a:xfrm>
            <a:off x="7735824" y="14996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5C7B"/>
                </a:solidFill>
              </a:rPr>
              <a:t>Strongest driver</a:t>
            </a:r>
            <a:endParaRPr lang="en-US" sz="750" dirty="0"/>
          </a:p>
        </p:txBody>
      </p:sp>
      <p:sp>
        <p:nvSpPr>
          <p:cNvPr id="44" name="Shape 33"/>
          <p:cNvSpPr/>
          <p:nvPr/>
        </p:nvSpPr>
        <p:spPr>
          <a:xfrm>
            <a:off x="9628632" y="749808"/>
            <a:ext cx="1920240" cy="1005840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9628632" y="749808"/>
            <a:ext cx="19202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73384" y="914400"/>
            <a:ext cx="292608" cy="29260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765792" y="8595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B0"/>
                </a:solidFill>
              </a:rPr>
              <a:t>Top OS</a:t>
            </a:r>
            <a:endParaRPr lang="en-US" sz="800" dirty="0"/>
          </a:p>
        </p:txBody>
      </p:sp>
      <p:sp>
        <p:nvSpPr>
          <p:cNvPr id="48" name="Text 36"/>
          <p:cNvSpPr/>
          <p:nvPr/>
        </p:nvSpPr>
        <p:spPr>
          <a:xfrm>
            <a:off x="9765792" y="1069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FreeDOS</a:t>
            </a:r>
            <a:endParaRPr lang="en-US" sz="1400" dirty="0"/>
          </a:p>
        </p:txBody>
      </p:sp>
      <p:sp>
        <p:nvSpPr>
          <p:cNvPr id="49" name="Text 37"/>
          <p:cNvSpPr/>
          <p:nvPr/>
        </p:nvSpPr>
        <p:spPr>
          <a:xfrm>
            <a:off x="9765792" y="14996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</a:rPr>
              <a:t>2,954 listings</a:t>
            </a:r>
            <a:endParaRPr lang="en-US" sz="750" dirty="0"/>
          </a:p>
        </p:txBody>
      </p:sp>
      <p:sp>
        <p:nvSpPr>
          <p:cNvPr id="50" name="Shape 38"/>
          <p:cNvSpPr/>
          <p:nvPr/>
        </p:nvSpPr>
        <p:spPr>
          <a:xfrm>
            <a:off x="1508760" y="1901952"/>
            <a:ext cx="5029200" cy="2331720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Text 39"/>
          <p:cNvSpPr/>
          <p:nvPr/>
        </p:nvSpPr>
        <p:spPr>
          <a:xfrm>
            <a:off x="1691640" y="2039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Avg. Price by Brand</a:t>
            </a:r>
            <a:endParaRPr lang="en-US" sz="1000" dirty="0"/>
          </a:p>
        </p:txBody>
      </p:sp>
      <p:sp>
        <p:nvSpPr>
          <p:cNvPr id="52" name="Text 40"/>
          <p:cNvSpPr/>
          <p:nvPr/>
        </p:nvSpPr>
        <p:spPr>
          <a:xfrm>
            <a:off x="6035040" y="2066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B0"/>
                </a:solidFill>
              </a:rPr>
              <a:t>USD</a:t>
            </a:r>
            <a:endParaRPr lang="en-US" sz="75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1600200" y="2267712"/>
          <a:ext cx="48463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4" name="Shape 41"/>
          <p:cNvSpPr/>
          <p:nvPr/>
        </p:nvSpPr>
        <p:spPr>
          <a:xfrm>
            <a:off x="6675120" y="1901952"/>
            <a:ext cx="2560320" cy="2331720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Text 42"/>
          <p:cNvSpPr/>
          <p:nvPr/>
        </p:nvSpPr>
        <p:spPr>
          <a:xfrm>
            <a:off x="6839712" y="2039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 by RAM (GB)</a:t>
            </a:r>
            <a:endParaRPr lang="en-US" sz="1000" dirty="0"/>
          </a:p>
        </p:txBody>
      </p:sp>
      <p:graphicFrame>
        <p:nvGraphicFramePr>
          <p:cNvPr id="56" name="Chart 1" descr=""/>
          <p:cNvGraphicFramePr/>
          <p:nvPr/>
        </p:nvGraphicFramePr>
        <p:xfrm>
          <a:off x="6766560" y="2286000"/>
          <a:ext cx="2377440" cy="1801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57" name="Shape 43"/>
          <p:cNvSpPr/>
          <p:nvPr/>
        </p:nvSpPr>
        <p:spPr>
          <a:xfrm>
            <a:off x="9372600" y="1901952"/>
            <a:ext cx="2606040" cy="2331720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Text 44"/>
          <p:cNvSpPr/>
          <p:nvPr/>
        </p:nvSpPr>
        <p:spPr>
          <a:xfrm>
            <a:off x="9537192" y="2039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GPU Distribution</a:t>
            </a:r>
            <a:endParaRPr lang="en-US" sz="1000" dirty="0"/>
          </a:p>
        </p:txBody>
      </p:sp>
      <p:graphicFrame>
        <p:nvGraphicFramePr>
          <p:cNvPr id="59" name="Chart 2" descr=""/>
          <p:cNvGraphicFramePr/>
          <p:nvPr/>
        </p:nvGraphicFramePr>
        <p:xfrm>
          <a:off x="9509760" y="2313432"/>
          <a:ext cx="2331720" cy="1764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60" name="Shape 45"/>
          <p:cNvSpPr/>
          <p:nvPr/>
        </p:nvSpPr>
        <p:spPr>
          <a:xfrm>
            <a:off x="1508760" y="4352544"/>
            <a:ext cx="5029200" cy="2231136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1" name="Text 46"/>
          <p:cNvSpPr/>
          <p:nvPr/>
        </p:nvSpPr>
        <p:spPr>
          <a:xfrm>
            <a:off x="1691640" y="4489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 Distribution (# of laptops)</a:t>
            </a:r>
            <a:endParaRPr lang="en-US" sz="1000" dirty="0"/>
          </a:p>
        </p:txBody>
      </p:sp>
      <p:graphicFrame>
        <p:nvGraphicFramePr>
          <p:cNvPr id="62" name="Chart 3" descr=""/>
          <p:cNvGraphicFramePr/>
          <p:nvPr/>
        </p:nvGraphicFramePr>
        <p:xfrm>
          <a:off x="1600200" y="4764024"/>
          <a:ext cx="4846320" cy="1682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63" name="Shape 47"/>
          <p:cNvSpPr/>
          <p:nvPr/>
        </p:nvSpPr>
        <p:spPr>
          <a:xfrm>
            <a:off x="6675120" y="4352544"/>
            <a:ext cx="2560320" cy="2231136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4" name="Text 48"/>
          <p:cNvSpPr/>
          <p:nvPr/>
        </p:nvSpPr>
        <p:spPr>
          <a:xfrm>
            <a:off x="6839712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 vs. Processor Cores</a:t>
            </a:r>
            <a:endParaRPr lang="en-US" sz="1000" dirty="0"/>
          </a:p>
        </p:txBody>
      </p:sp>
      <p:sp>
        <p:nvSpPr>
          <p:cNvPr id="65" name="Text 49"/>
          <p:cNvSpPr/>
          <p:nvPr/>
        </p:nvSpPr>
        <p:spPr>
          <a:xfrm>
            <a:off x="6839712" y="47183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B0"/>
                </a:solidFill>
              </a:rPr>
              <a:t>Inverse trend: fewer cores = higher price</a:t>
            </a:r>
            <a:endParaRPr lang="en-US" sz="750" dirty="0"/>
          </a:p>
        </p:txBody>
      </p:sp>
      <p:graphicFrame>
        <p:nvGraphicFramePr>
          <p:cNvPr id="66" name="Chart 4" descr=""/>
          <p:cNvGraphicFramePr/>
          <p:nvPr/>
        </p:nvGraphicFramePr>
        <p:xfrm>
          <a:off x="6766560" y="4882896"/>
          <a:ext cx="237744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67" name="Shape 50"/>
          <p:cNvSpPr/>
          <p:nvPr/>
        </p:nvSpPr>
        <p:spPr>
          <a:xfrm>
            <a:off x="9372600" y="4352544"/>
            <a:ext cx="2606040" cy="2231136"/>
          </a:xfrm>
          <a:prstGeom prst="rect">
            <a:avLst/>
          </a:prstGeom>
          <a:solidFill>
            <a:srgbClr val="1F2940"/>
          </a:solidFill>
          <a:ln w="12700">
            <a:solidFill>
              <a:srgbClr val="2E3D5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8" name="Text 51"/>
          <p:cNvSpPr/>
          <p:nvPr/>
        </p:nvSpPr>
        <p:spPr>
          <a:xfrm>
            <a:off x="9537192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Price by OS</a:t>
            </a:r>
            <a:endParaRPr lang="en-US" sz="1000" dirty="0"/>
          </a:p>
        </p:txBody>
      </p:sp>
      <p:sp>
        <p:nvSpPr>
          <p:cNvPr id="69" name="Text 52"/>
          <p:cNvSpPr/>
          <p:nvPr/>
        </p:nvSpPr>
        <p:spPr>
          <a:xfrm>
            <a:off x="9555480" y="4901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FreeDOS</a:t>
            </a:r>
            <a:endParaRPr lang="en-US" sz="850" dirty="0"/>
          </a:p>
        </p:txBody>
      </p:sp>
      <p:sp>
        <p:nvSpPr>
          <p:cNvPr id="70" name="Text 53"/>
          <p:cNvSpPr/>
          <p:nvPr/>
        </p:nvSpPr>
        <p:spPr>
          <a:xfrm>
            <a:off x="10561320" y="49011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E9AF1"/>
                </a:solidFill>
              </a:rPr>
              <a:t>$2,190</a:t>
            </a:r>
            <a:endParaRPr lang="en-US" sz="850" dirty="0"/>
          </a:p>
        </p:txBody>
      </p:sp>
      <p:sp>
        <p:nvSpPr>
          <p:cNvPr id="71" name="Shape 54"/>
          <p:cNvSpPr/>
          <p:nvPr/>
        </p:nvSpPr>
        <p:spPr>
          <a:xfrm>
            <a:off x="9555480" y="5138928"/>
            <a:ext cx="2240280" cy="91440"/>
          </a:xfrm>
          <a:prstGeom prst="rect">
            <a:avLst/>
          </a:prstGeom>
          <a:solidFill>
            <a:srgbClr val="2E3D5B"/>
          </a:solidFill>
          <a:ln w="12700">
            <a:solidFill>
              <a:srgbClr val="2E3D5B"/>
            </a:solidFill>
            <a:prstDash val="solid"/>
          </a:ln>
        </p:spPr>
      </p:sp>
      <p:sp>
        <p:nvSpPr>
          <p:cNvPr id="72" name="Shape 55"/>
          <p:cNvSpPr/>
          <p:nvPr/>
        </p:nvSpPr>
        <p:spPr>
          <a:xfrm>
            <a:off x="9555480" y="5138928"/>
            <a:ext cx="2240280" cy="9144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73" name="Text 56"/>
          <p:cNvSpPr/>
          <p:nvPr/>
        </p:nvSpPr>
        <p:spPr>
          <a:xfrm>
            <a:off x="9555480" y="5303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macOS</a:t>
            </a:r>
            <a:endParaRPr lang="en-US" sz="850" dirty="0"/>
          </a:p>
        </p:txBody>
      </p:sp>
      <p:sp>
        <p:nvSpPr>
          <p:cNvPr id="74" name="Text 57"/>
          <p:cNvSpPr/>
          <p:nvPr/>
        </p:nvSpPr>
        <p:spPr>
          <a:xfrm>
            <a:off x="10561320" y="53035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C6A0"/>
                </a:solidFill>
              </a:rPr>
              <a:t>$2,185</a:t>
            </a:r>
            <a:endParaRPr lang="en-US" sz="850" dirty="0"/>
          </a:p>
        </p:txBody>
      </p:sp>
      <p:sp>
        <p:nvSpPr>
          <p:cNvPr id="75" name="Shape 58"/>
          <p:cNvSpPr/>
          <p:nvPr/>
        </p:nvSpPr>
        <p:spPr>
          <a:xfrm>
            <a:off x="9555480" y="5541264"/>
            <a:ext cx="2240280" cy="91440"/>
          </a:xfrm>
          <a:prstGeom prst="rect">
            <a:avLst/>
          </a:prstGeom>
          <a:solidFill>
            <a:srgbClr val="2E3D5B"/>
          </a:solidFill>
          <a:ln w="12700">
            <a:solidFill>
              <a:srgbClr val="2E3D5B"/>
            </a:solidFill>
            <a:prstDash val="solid"/>
          </a:ln>
        </p:spPr>
      </p:sp>
      <p:sp>
        <p:nvSpPr>
          <p:cNvPr id="76" name="Shape 59"/>
          <p:cNvSpPr/>
          <p:nvPr/>
        </p:nvSpPr>
        <p:spPr>
          <a:xfrm>
            <a:off x="9555480" y="5541264"/>
            <a:ext cx="2235799" cy="91440"/>
          </a:xfrm>
          <a:prstGeom prst="rect">
            <a:avLst/>
          </a:prstGeom>
          <a:solidFill>
            <a:srgbClr val="2DC6A0"/>
          </a:solidFill>
          <a:ln w="12700">
            <a:solidFill>
              <a:srgbClr val="2DC6A0"/>
            </a:solidFill>
            <a:prstDash val="solid"/>
          </a:ln>
        </p:spPr>
      </p:sp>
      <p:sp>
        <p:nvSpPr>
          <p:cNvPr id="77" name="Text 60"/>
          <p:cNvSpPr/>
          <p:nvPr/>
        </p:nvSpPr>
        <p:spPr>
          <a:xfrm>
            <a:off x="9555480" y="5705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Windows</a:t>
            </a:r>
            <a:endParaRPr lang="en-US" sz="850" dirty="0"/>
          </a:p>
        </p:txBody>
      </p:sp>
      <p:sp>
        <p:nvSpPr>
          <p:cNvPr id="78" name="Text 61"/>
          <p:cNvSpPr/>
          <p:nvPr/>
        </p:nvSpPr>
        <p:spPr>
          <a:xfrm>
            <a:off x="10561320" y="57058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$2,181</a:t>
            </a:r>
            <a:endParaRPr lang="en-US" sz="850" dirty="0"/>
          </a:p>
        </p:txBody>
      </p:sp>
      <p:sp>
        <p:nvSpPr>
          <p:cNvPr id="79" name="Shape 62"/>
          <p:cNvSpPr/>
          <p:nvPr/>
        </p:nvSpPr>
        <p:spPr>
          <a:xfrm>
            <a:off x="9555480" y="5943600"/>
            <a:ext cx="2240280" cy="91440"/>
          </a:xfrm>
          <a:prstGeom prst="rect">
            <a:avLst/>
          </a:prstGeom>
          <a:solidFill>
            <a:srgbClr val="2E3D5B"/>
          </a:solidFill>
          <a:ln w="12700">
            <a:solidFill>
              <a:srgbClr val="2E3D5B"/>
            </a:solidFill>
            <a:prstDash val="solid"/>
          </a:ln>
        </p:spPr>
      </p:sp>
      <p:sp>
        <p:nvSpPr>
          <p:cNvPr id="80" name="Shape 63"/>
          <p:cNvSpPr/>
          <p:nvPr/>
        </p:nvSpPr>
        <p:spPr>
          <a:xfrm>
            <a:off x="9555480" y="5943600"/>
            <a:ext cx="2231319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1" name="Text 64"/>
          <p:cNvSpPr/>
          <p:nvPr/>
        </p:nvSpPr>
        <p:spPr>
          <a:xfrm>
            <a:off x="9555480" y="6108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Linux</a:t>
            </a:r>
            <a:endParaRPr lang="en-US" sz="850" dirty="0"/>
          </a:p>
        </p:txBody>
      </p:sp>
      <p:sp>
        <p:nvSpPr>
          <p:cNvPr id="82" name="Text 65"/>
          <p:cNvSpPr/>
          <p:nvPr/>
        </p:nvSpPr>
        <p:spPr>
          <a:xfrm>
            <a:off x="10561320" y="61081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$2,178</a:t>
            </a:r>
            <a:endParaRPr lang="en-US" sz="850" dirty="0"/>
          </a:p>
        </p:txBody>
      </p:sp>
      <p:sp>
        <p:nvSpPr>
          <p:cNvPr id="83" name="Shape 66"/>
          <p:cNvSpPr/>
          <p:nvPr/>
        </p:nvSpPr>
        <p:spPr>
          <a:xfrm>
            <a:off x="9555480" y="6345936"/>
            <a:ext cx="2240280" cy="91440"/>
          </a:xfrm>
          <a:prstGeom prst="rect">
            <a:avLst/>
          </a:prstGeom>
          <a:solidFill>
            <a:srgbClr val="2E3D5B"/>
          </a:solidFill>
          <a:ln w="12700">
            <a:solidFill>
              <a:srgbClr val="2E3D5B"/>
            </a:solidFill>
            <a:prstDash val="solid"/>
          </a:ln>
        </p:spPr>
      </p:sp>
      <p:sp>
        <p:nvSpPr>
          <p:cNvPr id="84" name="Shape 67"/>
          <p:cNvSpPr/>
          <p:nvPr/>
        </p:nvSpPr>
        <p:spPr>
          <a:xfrm>
            <a:off x="9555480" y="6345936"/>
            <a:ext cx="2226838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5" name="Shape 68"/>
          <p:cNvSpPr/>
          <p:nvPr/>
        </p:nvSpPr>
        <p:spPr>
          <a:xfrm>
            <a:off x="1371600" y="6748272"/>
            <a:ext cx="10789920" cy="109728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86" name="Text 69"/>
          <p:cNvSpPr/>
          <p:nvPr/>
        </p:nvSpPr>
        <p:spPr>
          <a:xfrm>
            <a:off x="1508760" y="6748272"/>
            <a:ext cx="7315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7B0"/>
                </a:solidFill>
              </a:rPr>
              <a:t>Laptop Market Analysis  •  Data: 11,769 listings  •  Confidential</a:t>
            </a:r>
            <a:endParaRPr lang="en-US" sz="700" dirty="0"/>
          </a:p>
        </p:txBody>
      </p:sp>
      <p:sp>
        <p:nvSpPr>
          <p:cNvPr id="87" name="Text 70"/>
          <p:cNvSpPr/>
          <p:nvPr/>
        </p:nvSpPr>
        <p:spPr>
          <a:xfrm>
            <a:off x="9601200" y="674827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7B0"/>
                </a:solidFill>
              </a:rPr>
              <a:t>Page 1 of 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Laptop Market Dashboard</dc:title>
  <dc:subject>PptxGenJS Presentation</dc:subject>
  <dc:creator>PptxGenJS</dc:creator>
  <cp:lastModifiedBy>PptxGenJS</cp:lastModifiedBy>
  <cp:revision>1</cp:revision>
  <dcterms:created xsi:type="dcterms:W3CDTF">2026-04-09T22:41:39Z</dcterms:created>
  <dcterms:modified xsi:type="dcterms:W3CDTF">2026-04-09T22:41:39Z</dcterms:modified>
</cp:coreProperties>
</file>